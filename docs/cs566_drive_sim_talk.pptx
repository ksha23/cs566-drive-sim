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Driving software is increasingly tested in simulators rebuilt from real drives. We ask how far the simulated car can leave the recorded path before those simulators stop being trustworthy, and whether AI repair models fix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recorded video becomes a 3D Gaussian splat: millions of small colored ellipsoids that can be rendered from any camera position. Near the recorded path it is accurate. One lane over, the road texture smears and lane lines break up. Diffusion-based fixers such as Difix clean these renders up. Looking better is not the same as being right, so we test them against real photos.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this measurable is Para-Lane: the same roads driven in three parallel lanes. So one lane over and two lanes over we have a real photo at exactly the rendered pose. Trust is detector agreement between the render and that photo; we also count invented paint and cars.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 per-image fixers, including our own re-implementation of the Difix training procedure, with methods that repair the 3D scene itself. We validated our Difix trainer against NVIDIA's official code on their kind of data, and we wrote our own splat projection code and checked that it matches gsplat.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lane agreement with the real photo. The raw render drops from 0.98 on the path to 0.18 one lane over and almost zero two lanes over. Released Difix recovers to 0.57, NVIDIA Fixer 0.69, and the fixers trained on our lane pairs about 0.78. Middle: perceptual distance. Right: fake vehicles per image, where our re-implementation is the worst.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circles are invented paint, blue boxes erased paint. Our re-implementation restores lanes well but also paints a marking that does not exist, and it adds vehicles on every road. Methods that repair the 3D model instead of each image cannot invent a per-frame car, so they hallucinate least.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of methods is stable across eight roads, but the level is not: a curved boulevard is easy, a shaded road under a highway defeats everyone. Raising or lowering the camera hurts about as much as a sideways shift. Fixers trained on our roads do not transfer to US or Indian roads, and in closed-loop driving none of them improves the policy's score; seed-to-seed variation is larger than any fixer effect.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trust drops fast off the path; trained fixers recover a lot at one lane but less beyond; they trade correctness for realism in specific, measurable ways; and the benefits are road-specific.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554480"/>
            <a:ext cx="10515600" cy="457200"/>
          </a:xfrm>
          <a:prstGeom prst="rect">
            <a:avLst/>
          </a:prstGeom>
          <a:noFill/>
        </p:spPr>
        <p:txBody>
          <a:bodyPr wrap="square" anchor="t" lIns="0" rIns="0" tIns="0" bIns="0">
            <a:spAutoFit/>
          </a:bodyPr>
          <a:lstStyle/>
          <a:p>
            <a:pPr algn="l">
              <a:spcAft>
                <a:spcPts val="720"/>
              </a:spcAft>
            </a:pPr>
            <a:r>
              <a:rPr sz="1600" b="1" i="0">
                <a:solidFill>
                  <a:srgbClr val="D96C1E"/>
                </a:solidFill>
                <a:latin typeface="Calibri"/>
              </a:rPr>
              <a:t>CS 566 COMPUTER VISION · FINAL PROJECT</a:t>
            </a:r>
          </a:p>
        </p:txBody>
      </p:sp>
      <p:sp>
        <p:nvSpPr>
          <p:cNvPr id="3" name="TextBox 2"/>
          <p:cNvSpPr txBox="1"/>
          <p:nvPr/>
        </p:nvSpPr>
        <p:spPr>
          <a:xfrm>
            <a:off x="731520" y="2103120"/>
            <a:ext cx="10515600" cy="1828800"/>
          </a:xfrm>
          <a:prstGeom prst="rect">
            <a:avLst/>
          </a:prstGeom>
          <a:noFill/>
        </p:spPr>
        <p:txBody>
          <a:bodyPr wrap="square" anchor="t" lIns="0" rIns="0" tIns="0" bIns="0">
            <a:spAutoFit/>
          </a:bodyPr>
          <a:lstStyle/>
          <a:p>
            <a:pPr algn="l">
              <a:spcAft>
                <a:spcPts val="1980"/>
              </a:spcAft>
            </a:pPr>
            <a:r>
              <a:rPr sz="4400" b="1" i="0">
                <a:solidFill>
                  <a:srgbClr val="FAF9F6"/>
                </a:solidFill>
                <a:latin typeface="Calibri"/>
              </a:rPr>
              <a:t>How far off the recorded path can a Gaussian-splat driving simulator be trusted?</a:t>
            </a:r>
          </a:p>
        </p:txBody>
      </p:sp>
      <p:sp>
        <p:nvSpPr>
          <p:cNvPr id="4" name="TextBox 3"/>
          <p:cNvSpPr txBox="1"/>
          <p:nvPr/>
        </p:nvSpPr>
        <p:spPr>
          <a:xfrm>
            <a:off x="731520" y="4114800"/>
            <a:ext cx="10515600" cy="457200"/>
          </a:xfrm>
          <a:prstGeom prst="rect">
            <a:avLst/>
          </a:prstGeom>
          <a:noFill/>
        </p:spPr>
        <p:txBody>
          <a:bodyPr wrap="square" anchor="t" lIns="0" rIns="0" tIns="0" bIns="0">
            <a:spAutoFit/>
          </a:bodyPr>
          <a:lstStyle/>
          <a:p>
            <a:pPr algn="l">
              <a:spcAft>
                <a:spcPts val="900"/>
              </a:spcAft>
            </a:pPr>
            <a:r>
              <a:rPr sz="2000" b="0" i="0">
                <a:solidFill>
                  <a:srgbClr val="BFC8D6"/>
                </a:solidFill>
                <a:latin typeface="Calibri"/>
              </a:rPr>
              <a:t>Kyle Sha and Allen Xia · University of Wisconsin–Madison · Fall 2026</a:t>
            </a:r>
          </a:p>
        </p:txBody>
      </p:sp>
      <p:sp>
        <p:nvSpPr>
          <p:cNvPr id="5" name="TextBox 4"/>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BFC8D6"/>
                </a:solidFill>
                <a:latin typeface="Calibri"/>
              </a:rPr>
              <a:t>Kyle Sha, Allen Xia · CS 566 Fall 2026 · Data: Para-Lane (CC BY-NC 4.0), HUGSIM/nuScenes, EUVS/MARS</a:t>
            </a:r>
          </a:p>
        </p:txBody>
      </p:sp>
      <p:sp>
        <p:nvSpPr>
          <p:cNvPr id="6" name="TextBox 5"/>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BFC8D6"/>
                </a:solidFill>
                <a:latin typeface="Calibri"/>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PROBLEM</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A splat is accurate only where the car actually drove</a:t>
            </a:r>
          </a:p>
        </p:txBody>
      </p:sp>
      <p:pic>
        <p:nvPicPr>
          <p:cNvPr id="4" name="Picture 3" descr="real_3m.jpg"/>
          <p:cNvPicPr>
            <a:picLocks noChangeAspect="1"/>
          </p:cNvPicPr>
          <p:nvPr/>
        </p:nvPicPr>
        <p:blipFill>
          <a:blip r:embed="rId2"/>
          <a:stretch>
            <a:fillRect/>
          </a:stretch>
        </p:blipFill>
        <p:spPr>
          <a:xfrm>
            <a:off x="565642" y="1600200"/>
            <a:ext cx="5452396" cy="3063240"/>
          </a:xfrm>
          <a:prstGeom prst="rect">
            <a:avLst/>
          </a:prstGeom>
        </p:spPr>
      </p:pic>
      <p:pic>
        <p:nvPicPr>
          <p:cNvPr id="5" name="Picture 4" descr="raw_3m.jpg"/>
          <p:cNvPicPr>
            <a:picLocks noChangeAspect="1"/>
          </p:cNvPicPr>
          <p:nvPr/>
        </p:nvPicPr>
        <p:blipFill>
          <a:blip r:embed="rId3"/>
          <a:stretch>
            <a:fillRect/>
          </a:stretch>
        </p:blipFill>
        <p:spPr>
          <a:xfrm>
            <a:off x="6193468" y="1600200"/>
            <a:ext cx="5443863" cy="3063240"/>
          </a:xfrm>
          <a:prstGeom prst="rect">
            <a:avLst/>
          </a:prstGeom>
        </p:spPr>
      </p:pic>
      <p:sp>
        <p:nvSpPr>
          <p:cNvPr id="6" name="TextBox 5"/>
          <p:cNvSpPr txBox="1"/>
          <p:nvPr/>
        </p:nvSpPr>
        <p:spPr>
          <a:xfrm>
            <a:off x="548640" y="4800600"/>
            <a:ext cx="11064240" cy="1463040"/>
          </a:xfrm>
          <a:prstGeom prst="rect">
            <a:avLst/>
          </a:prstGeom>
          <a:noFill/>
        </p:spPr>
        <p:txBody>
          <a:bodyPr wrap="square" anchor="t" lIns="0" rIns="0" tIns="0" bIns="0">
            <a:spAutoFit/>
          </a:bodyPr>
          <a:lstStyle/>
          <a:p>
            <a:pPr algn="l">
              <a:spcAft>
                <a:spcPts val="900"/>
              </a:spcAft>
            </a:pPr>
            <a:r>
              <a:rPr sz="2000" b="0" i="0">
                <a:solidFill>
                  <a:srgbClr val="4A5568"/>
                </a:solidFill>
                <a:latin typeface="Calibri"/>
              </a:rPr>
              <a:t>A Gaussian splat rebuilt from one lane, rendered 3 m to the side: </a:t>
            </a:r>
            <a:r>
              <a:rPr sz="2000" b="1" i="0">
                <a:solidFill>
                  <a:srgbClr val="4A5568"/>
                </a:solidFill>
                <a:latin typeface="Calibri"/>
              </a:rPr>
              <a:t>real photo (left) vs. render (right).</a:t>
            </a:r>
          </a:p>
          <a:p>
            <a:pPr algn="l">
              <a:spcAft>
                <a:spcPts val="900"/>
              </a:spcAft>
            </a:pPr>
            <a:r>
              <a:rPr sz="2000" b="0" i="0">
                <a:solidFill>
                  <a:srgbClr val="4A5568"/>
                </a:solidFill>
                <a:latin typeface="Calibri"/>
              </a:rPr>
              <a:t>Generative fixers (e.g., NVIDIA Difix) make such renders look realistic. </a:t>
            </a:r>
            <a:r>
              <a:rPr sz="2000" b="1" i="0">
                <a:solidFill>
                  <a:srgbClr val="D96C1E"/>
                </a:solidFill>
                <a:latin typeface="Calibri"/>
              </a:rPr>
              <a:t>We measure whether they also make them correct.</a:t>
            </a:r>
          </a:p>
        </p:txBody>
      </p:sp>
      <p:sp>
        <p:nvSpPr>
          <p:cNvPr id="7" name="TextBox 6"/>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8" name="TextBox 7"/>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SETUP</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Real ground truth from three parallel lanes</a:t>
            </a:r>
          </a:p>
        </p:txBody>
      </p:sp>
      <p:sp>
        <p:nvSpPr>
          <p:cNvPr id="4" name="Rounded Rectangle 3"/>
          <p:cNvSpPr/>
          <p:nvPr/>
        </p:nvSpPr>
        <p:spPr>
          <a:xfrm>
            <a:off x="640080" y="1737360"/>
            <a:ext cx="5120640" cy="868680"/>
          </a:xfrm>
          <a:prstGeom prst="roundRect">
            <a:avLst>
              <a:gd name="adj" fmla="val 6000"/>
            </a:avLst>
          </a:prstGeom>
          <a:solidFill>
            <a:srgbClr val="E8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Arrow 4"/>
          <p:cNvSpPr/>
          <p:nvPr/>
        </p:nvSpPr>
        <p:spPr>
          <a:xfrm>
            <a:off x="868680" y="2011680"/>
            <a:ext cx="914400" cy="329184"/>
          </a:xfrm>
          <a:prstGeom prst="rightArrow">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737360"/>
            <a:ext cx="3657600" cy="868680"/>
          </a:xfrm>
          <a:prstGeom prst="rect">
            <a:avLst/>
          </a:prstGeom>
          <a:noFill/>
        </p:spPr>
        <p:txBody>
          <a:bodyPr wrap="square" anchor="ctr" lIns="0" rIns="0" tIns="0" bIns="0">
            <a:spAutoFit/>
          </a:bodyPr>
          <a:lstStyle/>
          <a:p>
            <a:pPr algn="l">
              <a:spcAft>
                <a:spcPts val="855"/>
              </a:spcAft>
            </a:pPr>
            <a:r>
              <a:rPr sz="1900" b="0" i="0">
                <a:solidFill>
                  <a:srgbClr val="14213D"/>
                </a:solidFill>
                <a:latin typeface="Calibri"/>
              </a:rPr>
              <a:t>Lane A: recorded, splat built here</a:t>
            </a:r>
          </a:p>
        </p:txBody>
      </p:sp>
      <p:sp>
        <p:nvSpPr>
          <p:cNvPr id="7" name="Rounded Rectangle 6"/>
          <p:cNvSpPr/>
          <p:nvPr/>
        </p:nvSpPr>
        <p:spPr>
          <a:xfrm>
            <a:off x="640080" y="2880360"/>
            <a:ext cx="5120640" cy="868680"/>
          </a:xfrm>
          <a:prstGeom prst="roundRect">
            <a:avLst>
              <a:gd name="adj" fmla="val 6000"/>
            </a:avLst>
          </a:prstGeom>
          <a:solidFill>
            <a:srgbClr val="E8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868680" y="3154680"/>
            <a:ext cx="914400" cy="329184"/>
          </a:xfrm>
          <a:prstGeom prst="rightArrow">
            <a:avLst/>
          </a:prstGeom>
          <a:solidFill>
            <a:srgbClr val="D96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2880360"/>
            <a:ext cx="3657600" cy="868680"/>
          </a:xfrm>
          <a:prstGeom prst="rect">
            <a:avLst/>
          </a:prstGeom>
          <a:noFill/>
        </p:spPr>
        <p:txBody>
          <a:bodyPr wrap="square" anchor="ctr" lIns="0" rIns="0" tIns="0" bIns="0">
            <a:spAutoFit/>
          </a:bodyPr>
          <a:lstStyle/>
          <a:p>
            <a:pPr algn="l">
              <a:spcAft>
                <a:spcPts val="855"/>
              </a:spcAft>
            </a:pPr>
            <a:r>
              <a:rPr sz="1900" b="0" i="0">
                <a:solidFill>
                  <a:srgbClr val="14213D"/>
                </a:solidFill>
                <a:latin typeface="Calibri"/>
              </a:rPr>
              <a:t>Lane B (≈3 m): real photos exist</a:t>
            </a:r>
          </a:p>
        </p:txBody>
      </p:sp>
      <p:sp>
        <p:nvSpPr>
          <p:cNvPr id="10" name="Rounded Rectangle 9"/>
          <p:cNvSpPr/>
          <p:nvPr/>
        </p:nvSpPr>
        <p:spPr>
          <a:xfrm>
            <a:off x="640080" y="4023360"/>
            <a:ext cx="5120640" cy="868680"/>
          </a:xfrm>
          <a:prstGeom prst="roundRect">
            <a:avLst>
              <a:gd name="adj" fmla="val 6000"/>
            </a:avLst>
          </a:prstGeom>
          <a:solidFill>
            <a:srgbClr val="E8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68680" y="4297680"/>
            <a:ext cx="914400" cy="329184"/>
          </a:xfrm>
          <a:prstGeom prst="rightArrow">
            <a:avLst/>
          </a:prstGeom>
          <a:solidFill>
            <a:srgbClr val="D96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4023360"/>
            <a:ext cx="3657600" cy="868680"/>
          </a:xfrm>
          <a:prstGeom prst="rect">
            <a:avLst/>
          </a:prstGeom>
          <a:noFill/>
        </p:spPr>
        <p:txBody>
          <a:bodyPr wrap="square" anchor="ctr" lIns="0" rIns="0" tIns="0" bIns="0">
            <a:spAutoFit/>
          </a:bodyPr>
          <a:lstStyle/>
          <a:p>
            <a:pPr algn="l">
              <a:spcAft>
                <a:spcPts val="855"/>
              </a:spcAft>
            </a:pPr>
            <a:r>
              <a:rPr sz="1900" b="0" i="0">
                <a:solidFill>
                  <a:srgbClr val="14213D"/>
                </a:solidFill>
                <a:latin typeface="Calibri"/>
              </a:rPr>
              <a:t>Lane C (≈6 m): real photos exist</a:t>
            </a:r>
          </a:p>
        </p:txBody>
      </p:sp>
      <p:sp>
        <p:nvSpPr>
          <p:cNvPr id="13" name="TextBox 12"/>
          <p:cNvSpPr txBox="1"/>
          <p:nvPr/>
        </p:nvSpPr>
        <p:spPr>
          <a:xfrm>
            <a:off x="6217920" y="1737360"/>
            <a:ext cx="5394960" cy="4206240"/>
          </a:xfrm>
          <a:prstGeom prst="rect">
            <a:avLst/>
          </a:prstGeom>
          <a:noFill/>
        </p:spPr>
        <p:txBody>
          <a:bodyPr wrap="square" anchor="t" lIns="0" rIns="0" tIns="0" bIns="0">
            <a:spAutoFit/>
          </a:bodyPr>
          <a:lstStyle/>
          <a:p>
            <a:pPr algn="l">
              <a:spcAft>
                <a:spcPts val="855"/>
              </a:spcAft>
            </a:pPr>
            <a:r>
              <a:rPr sz="1900" b="1" i="0">
                <a:solidFill>
                  <a:srgbClr val="14213D"/>
                </a:solidFill>
                <a:latin typeface="Calibri"/>
              </a:rPr>
              <a:t>Para-Lane</a:t>
            </a:r>
            <a:r>
              <a:rPr sz="1900" b="0" i="0">
                <a:solidFill>
                  <a:srgbClr val="14213D"/>
                </a:solidFill>
                <a:latin typeface="Calibri"/>
              </a:rPr>
              <a:t> scans the same roads in three parallel lanes. We build the splat from one lane and render it at the other lanes' recorded poses.</a:t>
            </a:r>
          </a:p>
          <a:p>
            <a:pPr algn="l">
              <a:spcAft>
                <a:spcPts val="855"/>
              </a:spcAft>
            </a:pPr>
            <a:r>
              <a:rPr sz="1900" b="1" i="0">
                <a:solidFill>
                  <a:srgbClr val="14213D"/>
                </a:solidFill>
                <a:latin typeface="Calibri"/>
              </a:rPr>
              <a:t>Trust</a:t>
            </a:r>
            <a:r>
              <a:rPr sz="1900" b="0" i="0">
                <a:solidFill>
                  <a:srgbClr val="14213D"/>
                </a:solidFill>
                <a:latin typeface="Calibri"/>
              </a:rPr>
              <a:t> = do a lane detector (CLRNet) and a vehicle detector (YOLO11) see the same thing in the render and in the real photo?</a:t>
            </a:r>
          </a:p>
          <a:p>
            <a:pPr algn="l">
              <a:spcAft>
                <a:spcPts val="855"/>
              </a:spcAft>
            </a:pPr>
            <a:r>
              <a:rPr sz="1900" b="1" i="0">
                <a:solidFill>
                  <a:srgbClr val="14213D"/>
                </a:solidFill>
                <a:latin typeface="Calibri"/>
              </a:rPr>
              <a:t>Hallucination</a:t>
            </a:r>
            <a:r>
              <a:rPr sz="1900" b="0" i="0">
                <a:solidFill>
                  <a:srgbClr val="14213D"/>
                </a:solidFill>
                <a:latin typeface="Calibri"/>
              </a:rPr>
              <a:t> = lane paint or vehicles in the render that the real photo does not have.</a:t>
            </a:r>
          </a:p>
          <a:p>
            <a:pPr algn="l">
              <a:spcAft>
                <a:spcPts val="855"/>
              </a:spcAft>
            </a:pPr>
            <a:r>
              <a:rPr sz="1900" b="0" i="0">
                <a:solidFill>
                  <a:srgbClr val="4A5568"/>
                </a:solidFill>
                <a:latin typeface="Calibri"/>
              </a:rPr>
              <a:t>8 held-out test roads · 2,825 images at ≈3 m · 1,386 at ≈6 m · 95% bootstrap intervals.</a:t>
            </a:r>
          </a:p>
        </p:txBody>
      </p:sp>
      <p:sp>
        <p:nvSpPr>
          <p:cNvPr id="14" name="TextBox 13"/>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15" name="TextBox 14"/>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METHODS</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What we compare, and what we built</a:t>
            </a:r>
          </a:p>
        </p:txBody>
      </p:sp>
      <p:sp>
        <p:nvSpPr>
          <p:cNvPr id="4" name="Rounded Rectangle 3"/>
          <p:cNvSpPr/>
          <p:nvPr/>
        </p:nvSpPr>
        <p:spPr>
          <a:xfrm>
            <a:off x="548640" y="1600200"/>
            <a:ext cx="3611880" cy="4526280"/>
          </a:xfrm>
          <a:prstGeom prst="roundRect">
            <a:avLst>
              <a:gd name="adj" fmla="val 6000"/>
            </a:avLst>
          </a:prstGeom>
          <a:solidFill>
            <a:srgbClr val="FFFFFF"/>
          </a:solidFill>
          <a:ln>
            <a:solidFill>
              <a:srgbClr val="D8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3154680" cy="457200"/>
          </a:xfrm>
          <a:prstGeom prst="rect">
            <a:avLst/>
          </a:prstGeom>
          <a:noFill/>
        </p:spPr>
        <p:txBody>
          <a:bodyPr wrap="square" anchor="t" lIns="0" rIns="0" tIns="0" bIns="0">
            <a:spAutoFit/>
          </a:bodyPr>
          <a:lstStyle/>
          <a:p>
            <a:pPr algn="l">
              <a:spcAft>
                <a:spcPts val="990"/>
              </a:spcAft>
            </a:pPr>
            <a:r>
              <a:rPr sz="2200" b="1" i="0">
                <a:solidFill>
                  <a:srgbClr val="D96C1E"/>
                </a:solidFill>
                <a:latin typeface="Calibri"/>
              </a:rPr>
              <a:t>Image fixers</a:t>
            </a:r>
          </a:p>
        </p:txBody>
      </p:sp>
      <p:sp>
        <p:nvSpPr>
          <p:cNvPr id="6" name="TextBox 5"/>
          <p:cNvSpPr txBox="1"/>
          <p:nvPr/>
        </p:nvSpPr>
        <p:spPr>
          <a:xfrm>
            <a:off x="777240" y="2377440"/>
            <a:ext cx="3154680" cy="3657600"/>
          </a:xfrm>
          <a:prstGeom prst="rect">
            <a:avLst/>
          </a:prstGeom>
          <a:noFill/>
        </p:spPr>
        <p:txBody>
          <a:bodyPr wrap="square" anchor="t" lIns="0" rIns="0" tIns="0" bIns="0">
            <a:spAutoFit/>
          </a:bodyPr>
          <a:lstStyle/>
          <a:p>
            <a:pPr algn="l">
              <a:spcAft>
                <a:spcPts val="765"/>
              </a:spcAft>
            </a:pPr>
            <a:r>
              <a:rPr sz="1700" b="0" i="0">
                <a:solidFill>
                  <a:srgbClr val="14213D"/>
                </a:solidFill>
                <a:latin typeface="Calibri"/>
              </a:rPr>
              <a:t>• Released Difix (NVIDIA)</a:t>
            </a:r>
          </a:p>
          <a:p>
            <a:pPr algn="l">
              <a:spcAft>
                <a:spcPts val="765"/>
              </a:spcAft>
            </a:pPr>
            <a:r>
              <a:rPr sz="1700" b="0" i="0">
                <a:solidFill>
                  <a:srgbClr val="14213D"/>
                </a:solidFill>
                <a:latin typeface="Calibri"/>
              </a:rPr>
              <a:t>• NVIDIA Fixer (driving data)</a:t>
            </a:r>
          </a:p>
          <a:p>
            <a:pPr algn="l">
              <a:spcAft>
                <a:spcPts val="765"/>
              </a:spcAft>
            </a:pPr>
            <a:r>
              <a:rPr sz="1700" b="0" i="0">
                <a:solidFill>
                  <a:srgbClr val="14213D"/>
                </a:solidFill>
                <a:latin typeface="Calibri"/>
              </a:rPr>
              <a:t>• Difix training, re-implemented by us from the paper, trained on lane pairs</a:t>
            </a:r>
          </a:p>
          <a:p>
            <a:pPr algn="l">
              <a:spcAft>
                <a:spcPts val="765"/>
              </a:spcAft>
            </a:pPr>
            <a:r>
              <a:rPr sz="1700" b="0" i="0">
                <a:solidFill>
                  <a:srgbClr val="14213D"/>
                </a:solidFill>
                <a:latin typeface="Calibri"/>
              </a:rPr>
              <a:t>• Difix fine-tuned on our pairs</a:t>
            </a:r>
          </a:p>
          <a:p>
            <a:pPr algn="l">
              <a:spcAft>
                <a:spcPts val="765"/>
              </a:spcAft>
            </a:pPr>
            <a:r>
              <a:rPr sz="1700" b="0" i="0">
                <a:solidFill>
                  <a:srgbClr val="14213D"/>
                </a:solidFill>
                <a:latin typeface="Calibri"/>
              </a:rPr>
              <a:t>• Small U-Net from scratch</a:t>
            </a:r>
          </a:p>
        </p:txBody>
      </p:sp>
      <p:sp>
        <p:nvSpPr>
          <p:cNvPr id="7" name="Rounded Rectangle 6"/>
          <p:cNvSpPr/>
          <p:nvPr/>
        </p:nvSpPr>
        <p:spPr>
          <a:xfrm>
            <a:off x="4297680" y="1600200"/>
            <a:ext cx="3611880" cy="4526280"/>
          </a:xfrm>
          <a:prstGeom prst="roundRect">
            <a:avLst>
              <a:gd name="adj" fmla="val 6000"/>
            </a:avLst>
          </a:prstGeom>
          <a:solidFill>
            <a:srgbClr val="FFFFFF"/>
          </a:solidFill>
          <a:ln>
            <a:solidFill>
              <a:srgbClr val="D8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83080"/>
            <a:ext cx="3154680" cy="457200"/>
          </a:xfrm>
          <a:prstGeom prst="rect">
            <a:avLst/>
          </a:prstGeom>
          <a:noFill/>
        </p:spPr>
        <p:txBody>
          <a:bodyPr wrap="square" anchor="t" lIns="0" rIns="0" tIns="0" bIns="0">
            <a:spAutoFit/>
          </a:bodyPr>
          <a:lstStyle/>
          <a:p>
            <a:pPr algn="l">
              <a:spcAft>
                <a:spcPts val="990"/>
              </a:spcAft>
            </a:pPr>
            <a:r>
              <a:rPr sz="2200" b="1" i="0">
                <a:solidFill>
                  <a:srgbClr val="D96C1E"/>
                </a:solidFill>
                <a:latin typeface="Calibri"/>
              </a:rPr>
              <a:t>Fix the 3D scene</a:t>
            </a:r>
          </a:p>
        </p:txBody>
      </p:sp>
      <p:sp>
        <p:nvSpPr>
          <p:cNvPr id="9" name="TextBox 8"/>
          <p:cNvSpPr txBox="1"/>
          <p:nvPr/>
        </p:nvSpPr>
        <p:spPr>
          <a:xfrm>
            <a:off x="4526280" y="2377440"/>
            <a:ext cx="3154680" cy="3657600"/>
          </a:xfrm>
          <a:prstGeom prst="rect">
            <a:avLst/>
          </a:prstGeom>
          <a:noFill/>
        </p:spPr>
        <p:txBody>
          <a:bodyPr wrap="square" anchor="t" lIns="0" rIns="0" tIns="0" bIns="0">
            <a:spAutoFit/>
          </a:bodyPr>
          <a:lstStyle/>
          <a:p>
            <a:pPr algn="l">
              <a:spcAft>
                <a:spcPts val="765"/>
              </a:spcAft>
            </a:pPr>
            <a:r>
              <a:rPr sz="1700" b="0" i="0">
                <a:solidFill>
                  <a:srgbClr val="14213D"/>
                </a:solidFill>
                <a:latin typeface="Calibri"/>
              </a:rPr>
              <a:t>• Progressive update: fixed views added back into the splat (Difix3D+)</a:t>
            </a:r>
          </a:p>
          <a:p>
            <a:pPr algn="l">
              <a:spcAft>
                <a:spcPts val="765"/>
              </a:spcAft>
            </a:pPr>
            <a:r>
              <a:rPr sz="1700" b="0" i="0">
                <a:solidFill>
                  <a:srgbClr val="14213D"/>
                </a:solidFill>
                <a:latin typeface="Calibri"/>
              </a:rPr>
              <a:t>• Road-surface prior from LiDAR (ViSE, re-implemented; no generation)</a:t>
            </a:r>
          </a:p>
        </p:txBody>
      </p:sp>
      <p:sp>
        <p:nvSpPr>
          <p:cNvPr id="10" name="Rounded Rectangle 9"/>
          <p:cNvSpPr/>
          <p:nvPr/>
        </p:nvSpPr>
        <p:spPr>
          <a:xfrm>
            <a:off x="8046720" y="1600200"/>
            <a:ext cx="3611880" cy="4526280"/>
          </a:xfrm>
          <a:prstGeom prst="roundRect">
            <a:avLst>
              <a:gd name="adj" fmla="val 6000"/>
            </a:avLst>
          </a:prstGeom>
          <a:solidFill>
            <a:srgbClr val="FFFFFF"/>
          </a:solidFill>
          <a:ln>
            <a:solidFill>
              <a:srgbClr val="D8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783080"/>
            <a:ext cx="3154680" cy="457200"/>
          </a:xfrm>
          <a:prstGeom prst="rect">
            <a:avLst/>
          </a:prstGeom>
          <a:noFill/>
        </p:spPr>
        <p:txBody>
          <a:bodyPr wrap="square" anchor="t" lIns="0" rIns="0" tIns="0" bIns="0">
            <a:spAutoFit/>
          </a:bodyPr>
          <a:lstStyle/>
          <a:p>
            <a:pPr algn="l">
              <a:spcAft>
                <a:spcPts val="990"/>
              </a:spcAft>
            </a:pPr>
            <a:r>
              <a:rPr sz="2200" b="1" i="0">
                <a:solidFill>
                  <a:srgbClr val="2B6CB0"/>
                </a:solidFill>
                <a:latin typeface="Calibri"/>
              </a:rPr>
              <a:t>Built and validated</a:t>
            </a:r>
          </a:p>
        </p:txBody>
      </p:sp>
      <p:sp>
        <p:nvSpPr>
          <p:cNvPr id="12" name="TextBox 11"/>
          <p:cNvSpPr txBox="1"/>
          <p:nvPr/>
        </p:nvSpPr>
        <p:spPr>
          <a:xfrm>
            <a:off x="8275320" y="2377440"/>
            <a:ext cx="3154680" cy="3657600"/>
          </a:xfrm>
          <a:prstGeom prst="rect">
            <a:avLst/>
          </a:prstGeom>
          <a:noFill/>
        </p:spPr>
        <p:txBody>
          <a:bodyPr wrap="square" anchor="t" lIns="0" rIns="0" tIns="0" bIns="0">
            <a:spAutoFit/>
          </a:bodyPr>
          <a:lstStyle/>
          <a:p>
            <a:pPr algn="l">
              <a:spcAft>
                <a:spcPts val="765"/>
              </a:spcAft>
            </a:pPr>
            <a:r>
              <a:rPr sz="1700" b="0" i="0">
                <a:solidFill>
                  <a:srgbClr val="14213D"/>
                </a:solidFill>
                <a:latin typeface="Calibri"/>
              </a:rPr>
              <a:t>• Our Difix trainer beats the official one at equal budget (DL3DV: LPIPS 0.218 vs 0.237)</a:t>
            </a:r>
          </a:p>
          <a:p>
            <a:pPr algn="l">
              <a:spcAft>
                <a:spcPts val="765"/>
              </a:spcAft>
            </a:pPr>
            <a:r>
              <a:rPr sz="1700" b="0" i="0">
                <a:solidFill>
                  <a:srgbClr val="14213D"/>
                </a:solidFill>
                <a:latin typeface="Calibri"/>
              </a:rPr>
              <a:t>• Our own splat projection: matches gsplat to 90.8 dB, gradients cos ≥ 0.99996</a:t>
            </a:r>
          </a:p>
        </p:txBody>
      </p:sp>
      <p:sp>
        <p:nvSpPr>
          <p:cNvPr id="13" name="TextBox 12"/>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14" name="TextBox 13"/>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RESULT 1</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Trust collapses one lane over; trained fixers recover part of it</a:t>
            </a:r>
          </a:p>
        </p:txBody>
      </p:sp>
      <p:pic>
        <p:nvPicPr>
          <p:cNvPr id="4" name="Picture 3" descr="fig1_trust_vs_offset.png"/>
          <p:cNvPicPr>
            <a:picLocks noChangeAspect="1"/>
          </p:cNvPicPr>
          <p:nvPr/>
        </p:nvPicPr>
        <p:blipFill>
          <a:blip r:embed="rId2"/>
          <a:stretch>
            <a:fillRect/>
          </a:stretch>
        </p:blipFill>
        <p:spPr>
          <a:xfrm>
            <a:off x="893507" y="1417320"/>
            <a:ext cx="10374506" cy="4206240"/>
          </a:xfrm>
          <a:prstGeom prst="rect">
            <a:avLst/>
          </a:prstGeom>
        </p:spPr>
      </p:pic>
      <p:sp>
        <p:nvSpPr>
          <p:cNvPr id="5" name="TextBox 4"/>
          <p:cNvSpPr txBox="1"/>
          <p:nvPr/>
        </p:nvSpPr>
        <p:spPr>
          <a:xfrm>
            <a:off x="548640" y="5715000"/>
            <a:ext cx="11064240" cy="548640"/>
          </a:xfrm>
          <a:prstGeom prst="rect">
            <a:avLst/>
          </a:prstGeom>
          <a:noFill/>
        </p:spPr>
        <p:txBody>
          <a:bodyPr wrap="square" anchor="t" lIns="0" rIns="0" tIns="0" bIns="0">
            <a:spAutoFit/>
          </a:bodyPr>
          <a:lstStyle/>
          <a:p>
            <a:pPr algn="l">
              <a:spcAft>
                <a:spcPts val="810"/>
              </a:spcAft>
            </a:pPr>
            <a:r>
              <a:rPr sz="1800" b="0" i="0">
                <a:solidFill>
                  <a:srgbClr val="4A5568"/>
                </a:solidFill>
                <a:latin typeface="Calibri"/>
              </a:rPr>
              <a:t>Lane agreement, raw render: 0.98 on path → 0.18 at 3 m → 0.01 at 6 m.  </a:t>
            </a:r>
            <a:r>
              <a:rPr sz="1800" b="1" i="0">
                <a:solidFill>
                  <a:srgbClr val="4A5568"/>
                </a:solidFill>
                <a:latin typeface="Calibri"/>
              </a:rPr>
              <a:t>Best fixers at 3 m: 0.77–0.79.</a:t>
            </a:r>
          </a:p>
        </p:txBody>
      </p:sp>
      <p:sp>
        <p:nvSpPr>
          <p:cNvPr id="6" name="TextBox 5"/>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7" name="TextBox 6"/>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RESULT 2</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Better-looking is not the same as correct</a:t>
            </a:r>
          </a:p>
        </p:txBody>
      </p:sp>
      <p:pic>
        <p:nvPicPr>
          <p:cNvPr id="4" name="Picture 3" descr="qual_hallucination.jpg"/>
          <p:cNvPicPr>
            <a:picLocks noChangeAspect="1"/>
          </p:cNvPicPr>
          <p:nvPr/>
        </p:nvPicPr>
        <p:blipFill>
          <a:blip r:embed="rId2"/>
          <a:stretch>
            <a:fillRect/>
          </a:stretch>
        </p:blipFill>
        <p:spPr>
          <a:xfrm>
            <a:off x="365760" y="1940862"/>
            <a:ext cx="7589520" cy="3707796"/>
          </a:xfrm>
          <a:prstGeom prst="rect">
            <a:avLst/>
          </a:prstGeom>
        </p:spPr>
      </p:pic>
      <p:sp>
        <p:nvSpPr>
          <p:cNvPr id="5" name="TextBox 4"/>
          <p:cNvSpPr txBox="1"/>
          <p:nvPr/>
        </p:nvSpPr>
        <p:spPr>
          <a:xfrm>
            <a:off x="8183879" y="1600200"/>
            <a:ext cx="3474720" cy="4572000"/>
          </a:xfrm>
          <a:prstGeom prst="rect">
            <a:avLst/>
          </a:prstGeom>
          <a:noFill/>
        </p:spPr>
        <p:txBody>
          <a:bodyPr wrap="square" anchor="t" lIns="0" rIns="0" tIns="0" bIns="0">
            <a:spAutoFit/>
          </a:bodyPr>
          <a:lstStyle/>
          <a:p>
            <a:pPr algn="l">
              <a:spcAft>
                <a:spcPts val="810"/>
              </a:spcAft>
            </a:pPr>
            <a:r>
              <a:rPr sz="1800" b="1" i="0">
                <a:solidFill>
                  <a:srgbClr val="14213D"/>
                </a:solidFill>
                <a:latin typeface="Calibri"/>
              </a:rPr>
              <a:t>Our Difix paints a wide stripe</a:t>
            </a:r>
            <a:r>
              <a:rPr sz="1800" b="0" i="0">
                <a:solidFill>
                  <a:srgbClr val="14213D"/>
                </a:solidFill>
                <a:latin typeface="Calibri"/>
              </a:rPr>
              <a:t> that is not on the real road: paint precision 0.13 vs 0.95 raw, while its lane score stays high.</a:t>
            </a:r>
          </a:p>
          <a:p>
            <a:pPr algn="l">
              <a:spcAft>
                <a:spcPts val="810"/>
              </a:spcAft>
            </a:pPr>
            <a:r>
              <a:rPr sz="1800" b="1" i="0">
                <a:solidFill>
                  <a:srgbClr val="14213D"/>
                </a:solidFill>
                <a:latin typeface="Calibri"/>
              </a:rPr>
              <a:t>Fake vehicles:</a:t>
            </a:r>
            <a:r>
              <a:rPr sz="1800" b="0" i="0">
                <a:solidFill>
                  <a:srgbClr val="14213D"/>
                </a:solidFill>
                <a:latin typeface="Calibri"/>
              </a:rPr>
              <a:t> our re-implementation adds them on 8 of 8 roads (+0.09 per image); fine-tuning NVIDIA's weights does not.</a:t>
            </a:r>
          </a:p>
          <a:p>
            <a:pPr algn="l">
              <a:spcAft>
                <a:spcPts val="810"/>
              </a:spcAft>
            </a:pPr>
            <a:r>
              <a:rPr sz="1800" b="1" i="0">
                <a:solidFill>
                  <a:srgbClr val="14213D"/>
                </a:solidFill>
                <a:latin typeface="Calibri"/>
              </a:rPr>
              <a:t>Refining the 3D scene</a:t>
            </a:r>
            <a:r>
              <a:rPr sz="1800" b="0" i="0">
                <a:solidFill>
                  <a:srgbClr val="14213D"/>
                </a:solidFill>
                <a:latin typeface="Calibri"/>
              </a:rPr>
              <a:t> invents almost nothing (0.01 per image) but helps less far off the path.</a:t>
            </a:r>
          </a:p>
        </p:txBody>
      </p:sp>
      <p:sp>
        <p:nvSpPr>
          <p:cNvPr id="6" name="TextBox 5"/>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7" name="TextBox 6"/>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nchor="t" lIns="0" rIns="0" tIns="0" bIns="0">
            <a:spAutoFit/>
          </a:bodyPr>
          <a:lstStyle/>
          <a:p>
            <a:pPr algn="l">
              <a:spcAft>
                <a:spcPts val="630"/>
              </a:spcAft>
            </a:pPr>
            <a:r>
              <a:rPr sz="1400" b="1" i="0">
                <a:solidFill>
                  <a:srgbClr val="D96C1E"/>
                </a:solidFill>
                <a:latin typeface="Calibri"/>
              </a:rPr>
              <a:t>RESULT 3</a:t>
            </a:r>
          </a:p>
        </p:txBody>
      </p:sp>
      <p:sp>
        <p:nvSpPr>
          <p:cNvPr id="3" name="TextBox 2"/>
          <p:cNvSpPr txBox="1"/>
          <p:nvPr/>
        </p:nvSpPr>
        <p:spPr>
          <a:xfrm>
            <a:off x="548640" y="640080"/>
            <a:ext cx="11064240" cy="731520"/>
          </a:xfrm>
          <a:prstGeom prst="rect">
            <a:avLst/>
          </a:prstGeom>
          <a:noFill/>
        </p:spPr>
        <p:txBody>
          <a:bodyPr wrap="square" anchor="t" lIns="0" rIns="0" tIns="0" bIns="0">
            <a:spAutoFit/>
          </a:bodyPr>
          <a:lstStyle/>
          <a:p>
            <a:pPr algn="l">
              <a:spcAft>
                <a:spcPts val="1440"/>
              </a:spcAft>
            </a:pPr>
            <a:r>
              <a:rPr sz="3200" b="1" i="0">
                <a:solidFill>
                  <a:srgbClr val="14213D"/>
                </a:solidFill>
                <a:latin typeface="Calibri"/>
              </a:rPr>
              <a:t>It depends on the road, and gains do not carry into driving</a:t>
            </a:r>
          </a:p>
        </p:txBody>
      </p:sp>
      <p:pic>
        <p:nvPicPr>
          <p:cNvPr id="4" name="Picture 3" descr="fig2_lane_f1_per_road_3m.png"/>
          <p:cNvPicPr>
            <a:picLocks noChangeAspect="1"/>
          </p:cNvPicPr>
          <p:nvPr/>
        </p:nvPicPr>
        <p:blipFill>
          <a:blip r:embed="rId2"/>
          <a:stretch>
            <a:fillRect/>
          </a:stretch>
        </p:blipFill>
        <p:spPr>
          <a:xfrm>
            <a:off x="365760" y="2262305"/>
            <a:ext cx="6857999" cy="3156350"/>
          </a:xfrm>
          <a:prstGeom prst="rect">
            <a:avLst/>
          </a:prstGeom>
        </p:spPr>
      </p:pic>
      <p:sp>
        <p:nvSpPr>
          <p:cNvPr id="5" name="TextBox 4"/>
          <p:cNvSpPr txBox="1"/>
          <p:nvPr/>
        </p:nvSpPr>
        <p:spPr>
          <a:xfrm>
            <a:off x="7406640" y="1554480"/>
            <a:ext cx="4206240" cy="4663440"/>
          </a:xfrm>
          <a:prstGeom prst="rect">
            <a:avLst/>
          </a:prstGeom>
          <a:noFill/>
        </p:spPr>
        <p:txBody>
          <a:bodyPr wrap="square" anchor="t" lIns="0" rIns="0" tIns="0" bIns="0">
            <a:spAutoFit/>
          </a:bodyPr>
          <a:lstStyle/>
          <a:p>
            <a:pPr algn="l">
              <a:spcAft>
                <a:spcPts val="765"/>
              </a:spcAft>
            </a:pPr>
            <a:r>
              <a:rPr sz="1700" b="1" i="0">
                <a:solidFill>
                  <a:srgbClr val="14213D"/>
                </a:solidFill>
                <a:latin typeface="Calibri"/>
              </a:rPr>
              <a:t>Per road:</a:t>
            </a:r>
            <a:r>
              <a:rPr sz="1700" b="0" i="0">
                <a:solidFill>
                  <a:srgbClr val="14213D"/>
                </a:solidFill>
                <a:latin typeface="Calibri"/>
              </a:rPr>
              <a:t> best fixer 0.95 on a curve, ≤ 0.39 under a highway; two lanes over there, every fixer draws a plausible but wrong road.</a:t>
            </a:r>
          </a:p>
          <a:p>
            <a:pPr algn="l">
              <a:spcAft>
                <a:spcPts val="765"/>
              </a:spcAft>
            </a:pPr>
            <a:r>
              <a:rPr sz="1700" b="1" i="0">
                <a:solidFill>
                  <a:srgbClr val="14213D"/>
                </a:solidFill>
                <a:latin typeface="Calibri"/>
              </a:rPr>
              <a:t>Camera height ±1 m:</a:t>
            </a:r>
            <a:r>
              <a:rPr sz="1700" b="0" i="0">
                <a:solidFill>
                  <a:srgbClr val="14213D"/>
                </a:solidFill>
                <a:latin typeface="Calibri"/>
              </a:rPr>
              <a:t> −5 to −7 dB on the road; turning ±15° barely matters.</a:t>
            </a:r>
          </a:p>
          <a:p>
            <a:pPr algn="l">
              <a:spcAft>
                <a:spcPts val="765"/>
              </a:spcAft>
            </a:pPr>
            <a:r>
              <a:rPr sz="1700" b="1" i="0">
                <a:solidFill>
                  <a:srgbClr val="14213D"/>
                </a:solidFill>
                <a:latin typeface="Calibri"/>
              </a:rPr>
              <a:t>Other cities (EUVS, MV2):</a:t>
            </a:r>
            <a:r>
              <a:rPr sz="1700" b="0" i="0">
                <a:solidFill>
                  <a:srgbClr val="14213D"/>
                </a:solidFill>
                <a:latin typeface="Calibri"/>
              </a:rPr>
              <a:t> fixers trained on our roads do not transfer.</a:t>
            </a:r>
          </a:p>
          <a:p>
            <a:pPr algn="l">
              <a:spcAft>
                <a:spcPts val="765"/>
              </a:spcAft>
            </a:pPr>
            <a:r>
              <a:rPr sz="1700" b="1" i="0">
                <a:solidFill>
                  <a:srgbClr val="14213D"/>
                </a:solidFill>
                <a:latin typeface="Calibri"/>
              </a:rPr>
              <a:t>Closed loop (HUGSIM, 75 runs):</a:t>
            </a:r>
            <a:r>
              <a:rPr sz="1700" b="0" i="0">
                <a:solidFill>
                  <a:srgbClr val="14213D"/>
                </a:solidFill>
                <a:latin typeface="Calibri"/>
              </a:rPr>
              <a:t> no fixer improves the driving score (0.408 without; changes −0.05 to 0.00).</a:t>
            </a:r>
          </a:p>
        </p:txBody>
      </p:sp>
      <p:sp>
        <p:nvSpPr>
          <p:cNvPr id="6" name="TextBox 5"/>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4A5568"/>
                </a:solidFill>
                <a:latin typeface="Calibri"/>
              </a:rPr>
              <a:t>Kyle Sha, Allen Xia · CS 566 Fall 2026 · Data: Para-Lane (CC BY-NC 4.0), HUGSIM/nuScenes, EUVS/MARS</a:t>
            </a:r>
          </a:p>
        </p:txBody>
      </p:sp>
      <p:sp>
        <p:nvSpPr>
          <p:cNvPr id="7" name="TextBox 6"/>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4A5568"/>
                </a:solidFill>
                <a:latin typeface="Calibr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640080"/>
            <a:ext cx="10515600" cy="457200"/>
          </a:xfrm>
          <a:prstGeom prst="rect">
            <a:avLst/>
          </a:prstGeom>
          <a:noFill/>
        </p:spPr>
        <p:txBody>
          <a:bodyPr wrap="square" anchor="t" lIns="0" rIns="0" tIns="0" bIns="0">
            <a:spAutoFit/>
          </a:bodyPr>
          <a:lstStyle/>
          <a:p>
            <a:pPr algn="l">
              <a:spcAft>
                <a:spcPts val="720"/>
              </a:spcAft>
            </a:pPr>
            <a:r>
              <a:rPr sz="1600" b="1" i="0">
                <a:solidFill>
                  <a:srgbClr val="D96C1E"/>
                </a:solidFill>
                <a:latin typeface="Calibri"/>
              </a:rPr>
              <a:t>TAKEAWAYS</a:t>
            </a:r>
          </a:p>
        </p:txBody>
      </p:sp>
      <p:sp>
        <p:nvSpPr>
          <p:cNvPr id="3" name="TextBox 2"/>
          <p:cNvSpPr txBox="1"/>
          <p:nvPr/>
        </p:nvSpPr>
        <p:spPr>
          <a:xfrm>
            <a:off x="731520" y="1188720"/>
            <a:ext cx="10698480" cy="4754880"/>
          </a:xfrm>
          <a:prstGeom prst="rect">
            <a:avLst/>
          </a:prstGeom>
          <a:noFill/>
        </p:spPr>
        <p:txBody>
          <a:bodyPr wrap="square" anchor="t" lIns="0" rIns="0" tIns="0" bIns="0">
            <a:spAutoFit/>
          </a:bodyPr>
          <a:lstStyle/>
          <a:p>
            <a:pPr algn="l">
              <a:spcAft>
                <a:spcPts val="1080"/>
              </a:spcAft>
            </a:pPr>
            <a:r>
              <a:rPr sz="2400" b="0" i="0">
                <a:solidFill>
                  <a:srgbClr val="FAF9F6"/>
                </a:solidFill>
                <a:latin typeface="Calibri"/>
              </a:rPr>
              <a:t>1. A splat-based simulator is trustworthy only near the recorded path: lane agreement falls from 0.98 to 0.18 one lane over.</a:t>
            </a:r>
          </a:p>
          <a:p>
            <a:pPr algn="l">
              <a:spcAft>
                <a:spcPts val="1080"/>
              </a:spcAft>
            </a:pPr>
            <a:r>
              <a:rPr sz="2400" b="0" i="0">
                <a:solidFill>
                  <a:srgbClr val="FAF9F6"/>
                </a:solidFill>
                <a:latin typeface="Calibri"/>
              </a:rPr>
              <a:t>2. Fixers trained on real neighboring-lane pairs recover most of it at 3 m (0.77–0.79), much less at 6 m (≈0.5).</a:t>
            </a:r>
          </a:p>
          <a:p>
            <a:pPr algn="l">
              <a:spcAft>
                <a:spcPts val="1080"/>
              </a:spcAft>
            </a:pPr>
            <a:r>
              <a:rPr sz="2400" b="0" i="0">
                <a:solidFill>
                  <a:srgbClr val="FAF9F6"/>
                </a:solidFill>
                <a:latin typeface="Calibri"/>
              </a:rPr>
              <a:t>3. Realism and correctness diverge: fixers invent lane paint and vehicles; repairing the 3D scene invents least.</a:t>
            </a:r>
          </a:p>
          <a:p>
            <a:pPr algn="l">
              <a:spcAft>
                <a:spcPts val="1080"/>
              </a:spcAft>
            </a:pPr>
            <a:r>
              <a:rPr sz="2400" b="0" i="0">
                <a:solidFill>
                  <a:srgbClr val="FAF9F6"/>
                </a:solidFill>
                <a:latin typeface="Calibri"/>
              </a:rPr>
              <a:t>4. Gains depend strongly on the road and do not transfer to other cities or to closed-loop driving scores.</a:t>
            </a:r>
          </a:p>
          <a:p>
            <a:pPr algn="l">
              <a:spcAft>
                <a:spcPts val="1080"/>
              </a:spcAft>
            </a:pPr>
            <a:r>
              <a:rPr sz="2000" b="0" i="0">
                <a:solidFill>
                  <a:srgbClr val="BFC8D6"/>
                </a:solidFill>
                <a:latin typeface="Calibri"/>
              </a:rPr>
              <a:t>Code, videos and all results: project webpage.</a:t>
            </a:r>
          </a:p>
        </p:txBody>
      </p:sp>
      <p:sp>
        <p:nvSpPr>
          <p:cNvPr id="4" name="TextBox 3"/>
          <p:cNvSpPr txBox="1"/>
          <p:nvPr/>
        </p:nvSpPr>
        <p:spPr>
          <a:xfrm>
            <a:off x="548640" y="6400800"/>
            <a:ext cx="8229600" cy="274320"/>
          </a:xfrm>
          <a:prstGeom prst="rect">
            <a:avLst/>
          </a:prstGeom>
          <a:noFill/>
        </p:spPr>
        <p:txBody>
          <a:bodyPr wrap="square" anchor="t" lIns="0" rIns="0" tIns="0" bIns="0">
            <a:spAutoFit/>
          </a:bodyPr>
          <a:lstStyle/>
          <a:p>
            <a:pPr algn="l">
              <a:spcAft>
                <a:spcPts val="495"/>
              </a:spcAft>
            </a:pPr>
            <a:r>
              <a:rPr sz="1100" b="0" i="0">
                <a:solidFill>
                  <a:srgbClr val="BFC8D6"/>
                </a:solidFill>
                <a:latin typeface="Calibri"/>
              </a:rPr>
              <a:t>Kyle Sha, Allen Xia · CS 566 Fall 2026 · Data: Para-Lane (CC BY-NC 4.0), HUGSIM/nuScenes, EUVS/MARS</a:t>
            </a:r>
          </a:p>
        </p:txBody>
      </p:sp>
      <p:sp>
        <p:nvSpPr>
          <p:cNvPr id="5" name="TextBox 4"/>
          <p:cNvSpPr txBox="1"/>
          <p:nvPr/>
        </p:nvSpPr>
        <p:spPr>
          <a:xfrm>
            <a:off x="10881360" y="6400800"/>
            <a:ext cx="731520" cy="274320"/>
          </a:xfrm>
          <a:prstGeom prst="rect">
            <a:avLst/>
          </a:prstGeom>
          <a:noFill/>
        </p:spPr>
        <p:txBody>
          <a:bodyPr wrap="square" anchor="t" lIns="0" rIns="0" tIns="0" bIns="0">
            <a:spAutoFit/>
          </a:bodyPr>
          <a:lstStyle/>
          <a:p>
            <a:pPr algn="r">
              <a:spcAft>
                <a:spcPts val="495"/>
              </a:spcAft>
            </a:pPr>
            <a:r>
              <a:rPr sz="1100" b="0" i="0">
                <a:solidFill>
                  <a:srgbClr val="BFC8D6"/>
                </a:solidFill>
                <a:latin typeface="Calibr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